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3D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 txBox="1"/>
          <p:nvPr/>
        </p:nvSpPr>
        <p:spPr>
          <a:xfrm>
            <a:off x="5323514" y="2258610"/>
            <a:ext cx="12274603" cy="1272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400"/>
              </a:lnSpc>
              <a:defRPr sz="7400">
                <a:solidFill>
                  <a:srgbClr val="2A241E"/>
                </a:solidFill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A Stitch in Time Saves Nine</a:t>
            </a:r>
          </a:p>
        </p:txBody>
      </p:sp>
      <p:sp>
        <p:nvSpPr>
          <p:cNvPr id="95" name="TextBox 3"/>
          <p:cNvSpPr txBox="1"/>
          <p:nvPr/>
        </p:nvSpPr>
        <p:spPr>
          <a:xfrm>
            <a:off x="7083011" y="4288144"/>
            <a:ext cx="11624090" cy="2515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5000"/>
              </a:lnSpc>
              <a:defRPr b="1" sz="3500">
                <a:latin typeface="Montserrat Semi-Bold"/>
                <a:ea typeface="Montserrat Semi-Bold"/>
                <a:cs typeface="Montserrat Semi-Bold"/>
                <a:sym typeface="Montserrat Semi-Bold"/>
              </a:defRPr>
            </a:pPr>
            <a:r>
              <a:t>A Digital Appointment Platform </a:t>
            </a:r>
          </a:p>
          <a:p>
            <a:pPr algn="ctr">
              <a:lnSpc>
                <a:spcPts val="5000"/>
              </a:lnSpc>
              <a:defRPr b="1" sz="3500">
                <a:latin typeface="Montserrat Semi-Bold"/>
                <a:ea typeface="Montserrat Semi-Bold"/>
                <a:cs typeface="Montserrat Semi-Bold"/>
                <a:sym typeface="Montserrat Semi-Bold"/>
              </a:defRPr>
            </a:pPr>
            <a:r>
              <a:t>allowing customers to </a:t>
            </a:r>
          </a:p>
          <a:p>
            <a:pPr algn="ctr">
              <a:lnSpc>
                <a:spcPts val="5000"/>
              </a:lnSpc>
              <a:defRPr b="1" sz="3500">
                <a:latin typeface="Montserrat Semi-Bold"/>
                <a:ea typeface="Montserrat Semi-Bold"/>
                <a:cs typeface="Montserrat Semi-Bold"/>
                <a:sym typeface="Montserrat Semi-Bold"/>
              </a:defRPr>
            </a:pPr>
            <a:r>
              <a:t>Book Fitting Slots &amp; Track their tailoring job </a:t>
            </a:r>
          </a:p>
          <a:p>
            <a:pPr algn="ctr">
              <a:lnSpc>
                <a:spcPts val="5000"/>
              </a:lnSpc>
              <a:defRPr b="1" sz="3500">
                <a:latin typeface="Montserrat Semi-Bold"/>
                <a:ea typeface="Montserrat Semi-Bold"/>
                <a:cs typeface="Montserrat Semi-Bold"/>
                <a:sym typeface="Montserrat Semi-Bold"/>
              </a:defRPr>
            </a:pPr>
            <a:r>
              <a:t>from Measurement to Collection.</a:t>
            </a:r>
          </a:p>
        </p:txBody>
      </p:sp>
      <p:sp>
        <p:nvSpPr>
          <p:cNvPr id="96" name="Freeform 4"/>
          <p:cNvSpPr/>
          <p:nvPr/>
        </p:nvSpPr>
        <p:spPr>
          <a:xfrm flipH="1">
            <a:off x="-295275" y="2801143"/>
            <a:ext cx="8349354" cy="751441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Box 5"/>
          <p:cNvSpPr txBox="1"/>
          <p:nvPr/>
        </p:nvSpPr>
        <p:spPr>
          <a:xfrm>
            <a:off x="7925731" y="7387873"/>
            <a:ext cx="9938648" cy="1391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700"/>
              </a:lnSpc>
              <a:defRPr sz="2600">
                <a:latin typeface="League Spartan"/>
                <a:ea typeface="League Spartan"/>
                <a:cs typeface="League Spartan"/>
                <a:sym typeface="League Spartan"/>
              </a:defRPr>
            </a:pPr>
            <a:r>
              <a:t>Akhila Anish Das | 150096725016 </a:t>
            </a:r>
          </a:p>
          <a:p>
            <a:pPr algn="ctr">
              <a:lnSpc>
                <a:spcPts val="3700"/>
              </a:lnSpc>
              <a:defRPr sz="2600">
                <a:latin typeface="League Spartan"/>
                <a:ea typeface="League Spartan"/>
                <a:cs typeface="League Spartan"/>
                <a:sym typeface="League Spartan"/>
              </a:defRPr>
            </a:pPr>
            <a:r>
              <a:t>Case Study No. 68 </a:t>
            </a:r>
          </a:p>
          <a:p>
            <a:pPr algn="ctr">
              <a:lnSpc>
                <a:spcPts val="3700"/>
              </a:lnSpc>
              <a:defRPr sz="2600">
                <a:latin typeface="League Spartan"/>
                <a:ea typeface="League Spartan"/>
                <a:cs typeface="League Spartan"/>
                <a:sym typeface="League Spartan"/>
              </a:defRPr>
            </a:pPr>
            <a:r>
              <a:t>Local Tailor Appointment App | Service - Business 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5871981" y="-109908"/>
            <a:ext cx="12014705" cy="2400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9600"/>
              </a:lnSpc>
              <a:defRPr sz="14000">
                <a:solidFill>
                  <a:srgbClr val="44311F"/>
                </a:solidFill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TailorTime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3D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2"/>
          <p:cNvSpPr/>
          <p:nvPr/>
        </p:nvSpPr>
        <p:spPr>
          <a:xfrm>
            <a:off x="12558169" y="3960367"/>
            <a:ext cx="5869088" cy="651121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Freeform 3"/>
          <p:cNvSpPr/>
          <p:nvPr/>
        </p:nvSpPr>
        <p:spPr>
          <a:xfrm>
            <a:off x="562443" y="3226386"/>
            <a:ext cx="5544403" cy="38342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Freeform 4"/>
          <p:cNvSpPr/>
          <p:nvPr/>
        </p:nvSpPr>
        <p:spPr>
          <a:xfrm>
            <a:off x="6871027" y="3226386"/>
            <a:ext cx="5406261" cy="383422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Freeform 5"/>
          <p:cNvSpPr/>
          <p:nvPr/>
        </p:nvSpPr>
        <p:spPr>
          <a:xfrm>
            <a:off x="1441003" y="7308263"/>
            <a:ext cx="10358185" cy="263861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Box 6"/>
          <p:cNvSpPr txBox="1"/>
          <p:nvPr/>
        </p:nvSpPr>
        <p:spPr>
          <a:xfrm>
            <a:off x="562444" y="-390525"/>
            <a:ext cx="12115301" cy="170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900"/>
              </a:lnSpc>
              <a:defRPr sz="9900">
                <a:solidFill>
                  <a:srgbClr val="44311F"/>
                </a:solidFill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Problem &amp; Value</a:t>
            </a:r>
          </a:p>
        </p:txBody>
      </p:sp>
      <p:sp>
        <p:nvSpPr>
          <p:cNvPr id="105" name="TextBox 7"/>
          <p:cNvSpPr txBox="1"/>
          <p:nvPr/>
        </p:nvSpPr>
        <p:spPr>
          <a:xfrm>
            <a:off x="562444" y="1707511"/>
            <a:ext cx="15300056" cy="906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400"/>
              </a:lnSpc>
              <a:defRPr sz="5300"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 Real Problem is not Tailoring, it is Uncertainty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3D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 2"/>
          <p:cNvSpPr/>
          <p:nvPr/>
        </p:nvSpPr>
        <p:spPr>
          <a:xfrm>
            <a:off x="0" y="2249907"/>
            <a:ext cx="18326100" cy="825533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Box 3"/>
          <p:cNvSpPr txBox="1"/>
          <p:nvPr/>
        </p:nvSpPr>
        <p:spPr>
          <a:xfrm>
            <a:off x="439821" y="-181503"/>
            <a:ext cx="12369631" cy="170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900"/>
              </a:lnSpc>
              <a:defRPr sz="9900">
                <a:solidFill>
                  <a:srgbClr val="44311F"/>
                </a:solidFill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Customer Journey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3D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form 2"/>
          <p:cNvSpPr/>
          <p:nvPr/>
        </p:nvSpPr>
        <p:spPr>
          <a:xfrm>
            <a:off x="11072572" y="2797794"/>
            <a:ext cx="7101128" cy="572528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Freeform 3"/>
          <p:cNvSpPr/>
          <p:nvPr/>
        </p:nvSpPr>
        <p:spPr>
          <a:xfrm>
            <a:off x="577112" y="1891288"/>
            <a:ext cx="3903316" cy="409539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Freeform 4"/>
          <p:cNvSpPr/>
          <p:nvPr/>
        </p:nvSpPr>
        <p:spPr>
          <a:xfrm>
            <a:off x="5251656" y="1831730"/>
            <a:ext cx="3892344" cy="410733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Freeform 5"/>
          <p:cNvSpPr/>
          <p:nvPr/>
        </p:nvSpPr>
        <p:spPr>
          <a:xfrm>
            <a:off x="1967663" y="6179670"/>
            <a:ext cx="4065358" cy="410733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Freeform 6"/>
          <p:cNvSpPr/>
          <p:nvPr/>
        </p:nvSpPr>
        <p:spPr>
          <a:xfrm>
            <a:off x="6823974" y="6103470"/>
            <a:ext cx="4073007" cy="410733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Box 7"/>
          <p:cNvSpPr txBox="1"/>
          <p:nvPr/>
        </p:nvSpPr>
        <p:spPr>
          <a:xfrm>
            <a:off x="251946" y="-390525"/>
            <a:ext cx="16230601" cy="170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900"/>
              </a:lnSpc>
              <a:defRPr sz="9900">
                <a:solidFill>
                  <a:srgbClr val="44311F"/>
                </a:solidFill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Operations &amp; Business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3D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reeform 2"/>
          <p:cNvSpPr/>
          <p:nvPr/>
        </p:nvSpPr>
        <p:spPr>
          <a:xfrm>
            <a:off x="14405368" y="1309349"/>
            <a:ext cx="3787230" cy="458805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Freeform 3"/>
          <p:cNvSpPr/>
          <p:nvPr/>
        </p:nvSpPr>
        <p:spPr>
          <a:xfrm>
            <a:off x="395348" y="2346075"/>
            <a:ext cx="3293545" cy="32226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Freeform 4"/>
          <p:cNvSpPr/>
          <p:nvPr/>
        </p:nvSpPr>
        <p:spPr>
          <a:xfrm>
            <a:off x="4129266" y="2346075"/>
            <a:ext cx="3325735" cy="322261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Freeform 5"/>
          <p:cNvSpPr/>
          <p:nvPr/>
        </p:nvSpPr>
        <p:spPr>
          <a:xfrm>
            <a:off x="7819176" y="2346075"/>
            <a:ext cx="3155504" cy="322261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Freeform 6"/>
          <p:cNvSpPr/>
          <p:nvPr/>
        </p:nvSpPr>
        <p:spPr>
          <a:xfrm>
            <a:off x="11403304" y="2346075"/>
            <a:ext cx="3002065" cy="322261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Freeform 7"/>
          <p:cNvSpPr/>
          <p:nvPr/>
        </p:nvSpPr>
        <p:spPr>
          <a:xfrm>
            <a:off x="395349" y="6646870"/>
            <a:ext cx="3053590" cy="3097206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Freeform 8"/>
          <p:cNvSpPr/>
          <p:nvPr/>
        </p:nvSpPr>
        <p:spPr>
          <a:xfrm>
            <a:off x="3927116" y="6646870"/>
            <a:ext cx="3196316" cy="3097206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Freeform 9"/>
          <p:cNvSpPr/>
          <p:nvPr/>
        </p:nvSpPr>
        <p:spPr>
          <a:xfrm>
            <a:off x="7627645" y="6646870"/>
            <a:ext cx="3032711" cy="3097206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Freeform 10"/>
          <p:cNvSpPr/>
          <p:nvPr/>
        </p:nvSpPr>
        <p:spPr>
          <a:xfrm>
            <a:off x="11146129" y="6648759"/>
            <a:ext cx="3082526" cy="3095317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Freeform 11"/>
          <p:cNvSpPr/>
          <p:nvPr/>
        </p:nvSpPr>
        <p:spPr>
          <a:xfrm>
            <a:off x="14723955" y="6646870"/>
            <a:ext cx="3150058" cy="3097206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38100" cap="rnd">
            <a:solidFill>
              <a:srgbClr val="000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Box 12"/>
          <p:cNvSpPr txBox="1"/>
          <p:nvPr/>
        </p:nvSpPr>
        <p:spPr>
          <a:xfrm>
            <a:off x="663707" y="414820"/>
            <a:ext cx="9922562" cy="1274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700"/>
              </a:lnSpc>
              <a:defRPr sz="9900">
                <a:solidFill>
                  <a:srgbClr val="44311F"/>
                </a:solidFill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SWOT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3D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reeform 2"/>
          <p:cNvSpPr/>
          <p:nvPr/>
        </p:nvSpPr>
        <p:spPr>
          <a:xfrm>
            <a:off x="6071413" y="3939509"/>
            <a:ext cx="3072587" cy="393005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Freeform 3"/>
          <p:cNvSpPr/>
          <p:nvPr/>
        </p:nvSpPr>
        <p:spPr>
          <a:xfrm>
            <a:off x="8419233" y="3939509"/>
            <a:ext cx="3497748" cy="393005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Freeform 4"/>
          <p:cNvSpPr/>
          <p:nvPr/>
        </p:nvSpPr>
        <p:spPr>
          <a:xfrm>
            <a:off x="302240" y="2692690"/>
            <a:ext cx="5638562" cy="65275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Freeform 5"/>
          <p:cNvSpPr/>
          <p:nvPr/>
        </p:nvSpPr>
        <p:spPr>
          <a:xfrm>
            <a:off x="12334402" y="2692690"/>
            <a:ext cx="5645372" cy="6527511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Box 6"/>
          <p:cNvSpPr txBox="1"/>
          <p:nvPr/>
        </p:nvSpPr>
        <p:spPr>
          <a:xfrm>
            <a:off x="552260" y="741496"/>
            <a:ext cx="16707041" cy="127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700"/>
              </a:lnSpc>
              <a:defRPr sz="9900">
                <a:solidFill>
                  <a:srgbClr val="44311F"/>
                </a:solidFill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Growth Roadmap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3D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 2"/>
          <p:cNvSpPr/>
          <p:nvPr/>
        </p:nvSpPr>
        <p:spPr>
          <a:xfrm>
            <a:off x="-314880" y="4019210"/>
            <a:ext cx="3964672" cy="637593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Freeform 3"/>
          <p:cNvSpPr/>
          <p:nvPr/>
        </p:nvSpPr>
        <p:spPr>
          <a:xfrm>
            <a:off x="-314881" y="103209"/>
            <a:ext cx="3581362" cy="391600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Freeform 4"/>
          <p:cNvSpPr/>
          <p:nvPr/>
        </p:nvSpPr>
        <p:spPr>
          <a:xfrm>
            <a:off x="3451504" y="2678496"/>
            <a:ext cx="4750041" cy="236975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Freeform 5"/>
          <p:cNvSpPr/>
          <p:nvPr/>
        </p:nvSpPr>
        <p:spPr>
          <a:xfrm>
            <a:off x="8344419" y="2668971"/>
            <a:ext cx="4780545" cy="236975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Freeform 6"/>
          <p:cNvSpPr/>
          <p:nvPr/>
        </p:nvSpPr>
        <p:spPr>
          <a:xfrm>
            <a:off x="13267838" y="2678496"/>
            <a:ext cx="4867030" cy="2369755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Freeform 7"/>
          <p:cNvSpPr/>
          <p:nvPr/>
        </p:nvSpPr>
        <p:spPr>
          <a:xfrm>
            <a:off x="6105833" y="5184411"/>
            <a:ext cx="4400973" cy="2369756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Freeform 8"/>
          <p:cNvSpPr/>
          <p:nvPr/>
        </p:nvSpPr>
        <p:spPr>
          <a:xfrm>
            <a:off x="10951802" y="5143499"/>
            <a:ext cx="4749551" cy="2410669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Freeform 9"/>
          <p:cNvSpPr/>
          <p:nvPr/>
        </p:nvSpPr>
        <p:spPr>
          <a:xfrm>
            <a:off x="8344419" y="7697041"/>
            <a:ext cx="4746022" cy="2369519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Box 10"/>
          <p:cNvSpPr txBox="1"/>
          <p:nvPr/>
        </p:nvSpPr>
        <p:spPr>
          <a:xfrm>
            <a:off x="4276480" y="612537"/>
            <a:ext cx="12460649" cy="1274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700"/>
              </a:lnSpc>
              <a:defRPr sz="9900">
                <a:solidFill>
                  <a:srgbClr val="44311F"/>
                </a:solidFill>
                <a:latin typeface="Handyman"/>
                <a:ea typeface="Handyman"/>
                <a:cs typeface="Handyman"/>
                <a:sym typeface="Handyman"/>
              </a:defRPr>
            </a:lvl1pPr>
          </a:lstStyle>
          <a:p>
            <a:pPr/>
            <a:r>
              <a:t>Why Choose 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